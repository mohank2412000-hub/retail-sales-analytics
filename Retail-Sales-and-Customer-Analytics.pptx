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icolage Grotesque Bold"/>
      <p:regular r:id="rId201314"/>
    </p:embeddedFont>
    <p:embeddedFont>
      <p:font typeface="Bricolage Grotesque ExtraBold"/>
      <p:regular r:id="rId201315"/>
    </p:embeddedFont>
    <p:embeddedFont>
      <p:font typeface="Bricolage Grotesque"/>
      <p:regular r:id="rId201316"/>
    </p:embeddedFont>
    <p:embeddedFont>
      <p:font typeface="Bricolage Grotesque SemiBold"/>
      <p:regular r:id="rId201317"/>
    </p:embeddedFont>
    <p:embeddedFont>
      <p:font typeface="Montserrat"/>
      <p:regular r:id="rId201318"/>
    </p:embeddedFont>
    <p:embeddedFont>
      <p:font typeface="Montserrat SemiBold"/>
      <p:regular r:id="rId201319"/>
    </p:embeddedFont>
    <p:embeddedFont>
      <p:font typeface="Montserrat Bold"/>
      <p:regular r:id="rId201320"/>
    </p:embeddedFont>
    <p:embeddedFont>
      <p:font typeface="Montserrat Black"/>
      <p:regular r:id="rId201321"/>
    </p:embeddedFont>
    <p:embeddedFont>
      <p:font typeface="Montserrat Extra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84189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Retail Sales &amp; Customer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06663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MySQL + Python + Power BI portfolio project analyzing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$2.30M in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793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5,000 orders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uncover where a retail superstore is losing money, which customers are at risk, and why.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728964"/>
            <a:ext cx="1996727" cy="287139"/>
          </a:xfrm>
          <a:prstGeom prst="roundRect">
            <a:avLst>
              <a:gd name="adj" fmla="val 22118"/>
            </a:avLst>
          </a:prstGeom>
          <a:solidFill>
            <a:srgbClr val="3E0845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785618"/>
            <a:ext cx="23795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MOHAN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24542" y="4728964"/>
            <a:ext cx="307203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EEAE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7946" y="4785618"/>
            <a:ext cx="34548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ANALYST PORTFOLIO PROJECT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81521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 Business Question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61475" y="1366937"/>
            <a:ext cx="629686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Superstore's leadership needed answers to three critical questions — this project was built to deliver them.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83197"/>
            <a:ext cx="6296860" cy="12906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8304" y="2565102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538150" y="2276475"/>
            <a:ext cx="52269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Is revenue growing?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538150" y="2644973"/>
            <a:ext cx="522691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month-to-month trends and volatility across the full dataset.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34470"/>
            <a:ext cx="6296860" cy="1290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8304" y="4016375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538150" y="3727748"/>
            <a:ext cx="52269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Which customers are at risk?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538150" y="4096246"/>
            <a:ext cx="522691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the most valuable customers — and those most likely to churn.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85742"/>
            <a:ext cx="6296860" cy="12906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8304" y="5467648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538150" y="5179020"/>
            <a:ext cx="522691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Which categories are least profitable?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538150" y="5547519"/>
            <a:ext cx="522691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Pinpoint underperforming product lines and understand the root causes.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478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Project Approach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007467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three-layer analytical pipeline — from raw data to interactive insights.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25451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37623" y="1382866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Phase 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737623" y="1760403"/>
            <a:ext cx="1902004" cy="561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design and ETL with Python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141253" y="5051108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Phase 2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141253" y="5428644"/>
            <a:ext cx="1912454" cy="561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analysis, RFM, cohorts and correlation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71730" y="1346288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Phase 3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471730" y="1723825"/>
            <a:ext cx="1902004" cy="561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dashboard with ODBC and DAX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6191349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phase builds on the last: a clean relational schema enables rigorous SQL analysis, which feeds directly into a live-connected Power BI dashboard.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7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Database Design &amp; ETL Pipeline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34158"/>
            <a:ext cx="6923410" cy="392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4648" y="1411089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Normalized Relational Schema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94648" y="1814215"/>
            <a:ext cx="354182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Rather than a flat CSV, a four-table normalized schema was designed in MySQL: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94648" y="2688530"/>
            <a:ext cx="3541822" cy="213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Customers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demographic and geographic attributes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Products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category, sub-category, and pricing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Orders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transaction headers with dates and regions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Order_Details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line-item granularity linked via foreign keys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94648" y="4954885"/>
            <a:ext cx="3541822" cy="124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Python ETL script handled staging, cleaning (mixed date formats, encoding issues), and loading — resolving Windows-specific MySQL driver challenges along the way.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 Analysis &amp; RFM Segmentation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98142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What the Queries Uncovered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183930"/>
            <a:ext cx="5315512" cy="399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joins, GROUP BY, and window functions (NTILE) calculated monthly revenue trends, top products by profit, and category/region profit margins.</a:t>
            </a:r>
            <a:endParaRPr lang="en-US" sz="7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RFM (Recency, Frequency, Monetary) model using CTEs classified all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793 customers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into five segments: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3628430"/>
            <a:ext cx="531551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Best Customers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109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New Customers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179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Regular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364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 Risk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60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Lost / Churned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181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1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Python: Discount Correlation &amp; Cohort Retention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34158"/>
            <a:ext cx="6923410" cy="392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4648" y="1419523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Two Analyses Beyond SQL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94648" y="1822648"/>
            <a:ext cx="354182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was pulled via SQLAlchemy into Pandas for deeper exploration: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648" y="2481461"/>
            <a:ext cx="3541822" cy="1764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55190" y="2665809"/>
            <a:ext cx="30969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Discount vs. Profit Correlation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55190" y="3068935"/>
            <a:ext cx="309693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correlation of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–0.22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confirmed that higher discounts erode margins — a relationship strongest within Furniture.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4648" y="4390132"/>
            <a:ext cx="3541822" cy="1764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55190" y="4574480"/>
            <a:ext cx="30969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Cohort Retention Heatmap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55190" y="4977606"/>
            <a:ext cx="309693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 purchase behavior tracked across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47 months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using Seaborn, revealing retention patterns by acquisition cohort.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56022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174452"/>
            <a:ext cx="629686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connected directly to MySQL via ODBC. A relational data model mirrored the schema, and DAX measures —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Revenue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Profit Margin %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Orders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powered an interactive, cross-filterable single-page dashboard.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1984573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$2.30M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661475" y="2617490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475" y="3137396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$286K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661475" y="3770313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475" y="4290219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12.47%</a:t>
            </a:r>
            <a:endParaRPr lang="en-US" sz="3750" dirty="0"/>
          </a:p>
        </p:txBody>
      </p:sp>
      <p:sp>
        <p:nvSpPr>
          <p:cNvPr id="10" name="Text 7"/>
          <p:cNvSpPr/>
          <p:nvPr/>
        </p:nvSpPr>
        <p:spPr>
          <a:xfrm>
            <a:off x="661475" y="4923135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Profit Margin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1475" y="5443041"/>
            <a:ext cx="6296860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5K</a:t>
            </a:r>
            <a:endParaRPr lang="en-US" sz="3750" dirty="0"/>
          </a:p>
        </p:txBody>
      </p:sp>
      <p:sp>
        <p:nvSpPr>
          <p:cNvPr id="12" name="Text 9"/>
          <p:cNvSpPr/>
          <p:nvPr/>
        </p:nvSpPr>
        <p:spPr>
          <a:xfrm>
            <a:off x="661475" y="6075958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Total Orders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85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Findings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7241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9570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Revenue Growing — But Volatile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996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grew steadily 2014–2017, but sharp month-to-month swings (e.g., $82K → $12K) suggest seasonality or inconsistent demand.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217241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9570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~30% of Customers Churned or At Risk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3996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181 customers (23%)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fully churned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60 (8%)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at risk — nearly a third of the base, representing a major retention opportunity.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217241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9570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Furniture Weakest — Driven by Discounting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3996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Furniture margins were negative in 2 of 4 regions (Central: –67%, East: –9%). Average discounts of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17.4%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highest of any category.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44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Profit by Sub-Category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5123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2762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Furniture Sub-Categories Are Losing Money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11909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Technology and Office Supplies drive strong margins, Furniture sub-categories tell a different story.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Tables (–$18K)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Bookcases (–$3K)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are the only sub-categories with negative total profit — both dragged down by aggressive discounting that consistently exceeds the profitability threshold.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439047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670D7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72578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656336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Tables and Bookcases alone account for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$21K in net losses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the clearest target for pricing intervention.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12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Recommendations &amp; Tools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504355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Three Actions to Take Now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1946573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5" name="Text 3"/>
          <p:cNvSpPr/>
          <p:nvPr/>
        </p:nvSpPr>
        <p:spPr>
          <a:xfrm>
            <a:off x="725717" y="1978670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2005" y="2005409"/>
            <a:ext cx="46848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 Furniture Discounts Below ~30%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02005" y="2428180"/>
            <a:ext cx="468489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Especially for Tables and Bookcases, where profit turns consistently negative above this threshold.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261122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9" name="Text 7"/>
          <p:cNvSpPr/>
          <p:nvPr/>
        </p:nvSpPr>
        <p:spPr>
          <a:xfrm>
            <a:off x="725717" y="3293219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02005" y="3319959"/>
            <a:ext cx="46848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Launch a Win-Back Campaign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02005" y="3742730"/>
            <a:ext cx="468489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the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241 customers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At-Risk and Lost/Churned segments — prioritize At-Risk first given their proven purchase history.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836914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13" name="Text 11"/>
          <p:cNvSpPr/>
          <p:nvPr/>
        </p:nvSpPr>
        <p:spPr>
          <a:xfrm>
            <a:off x="725717" y="4869011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02005" y="4895751"/>
            <a:ext cx="46848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Diagnose Revenue Volatility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02005" y="5318522"/>
            <a:ext cx="468489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Determine if monthly swings are seasonal (predictable) or signal inconsistent demand that marketing cadence could smooth.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7821" y="1349177"/>
            <a:ext cx="5472075" cy="4927699"/>
          </a:xfrm>
          <a:prstGeom prst="roundRect">
            <a:avLst>
              <a:gd name="adj" fmla="val 2503"/>
            </a:avLst>
          </a:prstGeom>
          <a:solidFill>
            <a:srgbClr val="243799"/>
          </a:solidFill>
          <a:ln/>
        </p:spPr>
      </p:sp>
      <p:sp>
        <p:nvSpPr>
          <p:cNvPr id="17" name="Text 15"/>
          <p:cNvSpPr/>
          <p:nvPr/>
        </p:nvSpPr>
        <p:spPr>
          <a:xfrm>
            <a:off x="6359068" y="1504355"/>
            <a:ext cx="51295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Tools &amp; Skills Demonstrated</a:t>
            </a:r>
            <a:endParaRPr lang="en-US" sz="16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0019" y="1927523"/>
            <a:ext cx="2486856" cy="1244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68415" y="1946573"/>
            <a:ext cx="22584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MySQL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568415" y="2369344"/>
            <a:ext cx="225846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design, joins, CTEs, window functions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1793" y="1927523"/>
            <a:ext cx="2486856" cy="1244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230189" y="1946573"/>
            <a:ext cx="22584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9230189" y="2369344"/>
            <a:ext cx="225846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Pandas, SQLAlchemy, Seaborn — correlation &amp; cohort analysis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0019" y="3444478"/>
            <a:ext cx="5148630" cy="98335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68415" y="3463528"/>
            <a:ext cx="492023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Power BI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6568415" y="3886299"/>
            <a:ext cx="492023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 measures, data modeling, ODBC connectivity, interactive dashboards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2026-09-08T06:49:52Z</dcterms:created>
  <dcterms:modified xsi:type="dcterms:W3CDTF">2026-09-08T06:49:52Z</dcterms:modified>
</cp:coreProperties>
</file>